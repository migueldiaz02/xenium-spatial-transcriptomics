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204000" cy="6876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204000" cy="687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204000" cy="864000"/>
          </a:xfrm>
          <a:prstGeom prst="rect">
            <a:avLst/>
          </a:prstGeom>
          <a:solidFill>
            <a:srgbClr val="0737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4000"/>
            <a:ext cx="12204000" cy="72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96000"/>
            <a:ext cx="12204000" cy="180000"/>
          </a:xfrm>
          <a:prstGeom prst="rect">
            <a:avLst/>
          </a:prstGeom>
          <a:solidFill>
            <a:srgbClr val="141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152000"/>
            <a:ext cx="75600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1E45"/>
                </a:solidFill>
                <a:latin typeface="Arial"/>
              </a:rPr>
              <a:t>Xenium: Transcriptómica Espacial in situ
con Resolución Unicelular</a:t>
            </a:r>
          </a:p>
        </p:txBody>
      </p:sp>
      <p:sp>
        <p:nvSpPr>
          <p:cNvPr id="7" name="Rectangle 6"/>
          <p:cNvSpPr/>
          <p:nvPr/>
        </p:nvSpPr>
        <p:spPr>
          <a:xfrm>
            <a:off x="540000" y="2484000"/>
            <a:ext cx="3600000" cy="36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0000" y="2592000"/>
            <a:ext cx="75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Arial"/>
              </a:rPr>
              <a:t>Plataforma, análisis y aplicación al estudio del nicho fibrótico en DC/TBD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0000" y="3240000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41E45"/>
                </a:solidFill>
                <a:latin typeface="Arial"/>
              </a:rPr>
              <a:t>Miguel Ángel Díaz Campos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0000" y="3528000"/>
            <a:ext cx="90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Arial"/>
              </a:rPr>
              <a:t>Dr. Alfredo de Jesús Rodríguez Gómez  |  Laboratorio de Fallas Medulares  |  2026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64000" y="1044000"/>
            <a:ext cx="3888000" cy="3311999"/>
          </a:xfrm>
          <a:prstGeom prst="rect">
            <a:avLst/>
          </a:prstGeom>
          <a:noFill/>
          <a:ln w="19050">
            <a:solidFill>
              <a:srgbClr val="BF6A0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72000" y="1152000"/>
            <a:ext cx="3672000" cy="309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BF6A02"/>
                </a:solidFill>
                <a:latin typeface="Arial"/>
              </a:rPr>
              <a:t>[ pegar la figura: Logo 10x Genomics / Xenium o esquema de tejido con puntos de transcritos de colores 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204000" cy="687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204000" cy="827999"/>
          </a:xfrm>
          <a:prstGeom prst="rect">
            <a:avLst/>
          </a:prstGeom>
          <a:solidFill>
            <a:srgbClr val="0737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0000" y="136800"/>
            <a:ext cx="10584000" cy="6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"/>
              </a:rPr>
              <a:t>¿Por qué Xenium? El problema de la ubicación celular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64000" y="216000"/>
            <a:ext cx="1332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00D4FF"/>
                </a:solidFill>
                <a:latin typeface="Arial"/>
              </a:rPr>
              <a:t>1 /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0000" y="6372000"/>
            <a:ext cx="11844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Arial"/>
              </a:rPr>
              <a:t>Miguel Ángel Díaz Campos  ·  Dr. Alfredo de Jesús Rodríguez Gómez  ·  Laboratorio de Fallas Medulares  · 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13999"/>
            <a:ext cx="12204000" cy="162000"/>
          </a:xfrm>
          <a:prstGeom prst="rect">
            <a:avLst/>
          </a:prstGeom>
          <a:solidFill>
            <a:srgbClr val="141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2000" y="846000"/>
            <a:ext cx="3992400" cy="5400000"/>
          </a:xfrm>
          <a:prstGeom prst="rect">
            <a:avLst/>
          </a:prstGeom>
          <a:noFill/>
          <a:ln w="285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47600" y="900000"/>
            <a:ext cx="3841200" cy="3312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0000" y="889200"/>
            <a:ext cx="3776400" cy="36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Arial"/>
              </a:rPr>
              <a:t>Problema: pérdida de ubicación celular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0000" y="1278000"/>
            <a:ext cx="3776400" cy="2520000"/>
          </a:xfrm>
          <a:prstGeom prst="rect">
            <a:avLst/>
          </a:prstGeom>
          <a:noFill/>
          <a:ln w="19050">
            <a:solidFill>
              <a:srgbClr val="BF6A0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8000" y="1386000"/>
            <a:ext cx="3560400" cy="230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BF6A02"/>
                </a:solidFill>
                <a:latin typeface="Arial"/>
              </a:rPr>
              <a:t>[ pegar la figura: Tejido disociado: células dispersas sin posición (scRNA-seq) 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0000" y="3870000"/>
            <a:ext cx="37764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A1A1A"/>
                </a:solidFill>
                <a:latin typeface="Arial"/>
              </a:rPr>
              <a:t>Células disgregadas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0000" y="4212000"/>
            <a:ext cx="3776400" cy="19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300" b="1">
                <a:solidFill>
                  <a:srgbClr val="1A1A1A"/>
                </a:solidFill>
                <a:latin typeface="Arial"/>
              </a:rPr>
              <a:t>▸ </a:t>
            </a:r>
            <a:r>
              <a:rPr sz="1500" b="0">
                <a:solidFill>
                  <a:srgbClr val="1A1A1A"/>
                </a:solidFill>
                <a:latin typeface="Arial"/>
              </a:rPr>
              <a:t>scRNA-seq disocia el tejido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300" b="1">
                <a:solidFill>
                  <a:srgbClr val="1A1A1A"/>
                </a:solidFill>
                <a:latin typeface="Arial"/>
              </a:rPr>
              <a:t>▸ </a:t>
            </a:r>
            <a:r>
              <a:rPr sz="1500" b="0">
                <a:solidFill>
                  <a:srgbClr val="1A1A1A"/>
                </a:solidFill>
                <a:latin typeface="Arial"/>
              </a:rPr>
              <a:t>Perdemos la posición celular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300" b="1">
                <a:solidFill>
                  <a:srgbClr val="1A1A1A"/>
                </a:solidFill>
                <a:latin typeface="Arial"/>
              </a:rPr>
              <a:t>▸ </a:t>
            </a:r>
            <a:r>
              <a:rPr sz="1500" b="0">
                <a:solidFill>
                  <a:srgbClr val="1A1A1A"/>
                </a:solidFill>
                <a:latin typeface="Arial"/>
              </a:rPr>
              <a:t>Sin contexto espacial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40000" y="846000"/>
            <a:ext cx="3992400" cy="5400000"/>
          </a:xfrm>
          <a:prstGeom prst="rect">
            <a:avLst/>
          </a:prstGeom>
          <a:noFill/>
          <a:ln w="285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15600" y="900000"/>
            <a:ext cx="3841200" cy="3312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48000" y="889200"/>
            <a:ext cx="3776400" cy="36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Arial"/>
              </a:rPr>
              <a:t>La solución: Xenium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48000" y="1278000"/>
            <a:ext cx="3776400" cy="2520000"/>
          </a:xfrm>
          <a:prstGeom prst="rect">
            <a:avLst/>
          </a:prstGeom>
          <a:noFill/>
          <a:ln w="19050">
            <a:solidFill>
              <a:srgbClr val="BF6A0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56000" y="1386000"/>
            <a:ext cx="3560400" cy="230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BF6A02"/>
                </a:solidFill>
                <a:latin typeface="Arial"/>
              </a:rPr>
              <a:t>[ pegar la figura: Tejido intacto con transcritos en su posición original (Xenium) 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48000" y="3870000"/>
            <a:ext cx="37764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A1A1A"/>
                </a:solidFill>
                <a:latin typeface="Arial"/>
              </a:rPr>
              <a:t>Tejido intacto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48000" y="4212000"/>
            <a:ext cx="3776400" cy="19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300" b="1">
                <a:solidFill>
                  <a:srgbClr val="1A1A1A"/>
                </a:solidFill>
                <a:latin typeface="Arial"/>
              </a:rPr>
              <a:t>▸ </a:t>
            </a:r>
            <a:r>
              <a:rPr sz="1500" b="0">
                <a:solidFill>
                  <a:srgbClr val="1A1A1A"/>
                </a:solidFill>
                <a:latin typeface="Arial"/>
              </a:rPr>
              <a:t>Coordenadas (X, Y) por transcrito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300" b="1">
                <a:solidFill>
                  <a:srgbClr val="1A1A1A"/>
                </a:solidFill>
                <a:latin typeface="Arial"/>
              </a:rPr>
              <a:t>▸ </a:t>
            </a:r>
            <a:r>
              <a:rPr sz="1500" b="0">
                <a:solidFill>
                  <a:srgbClr val="1A1A1A"/>
                </a:solidFill>
                <a:latin typeface="Arial"/>
              </a:rPr>
              <a:t>Resolución subcelular (~100 nm)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300" b="1">
                <a:solidFill>
                  <a:srgbClr val="1A1A1A"/>
                </a:solidFill>
                <a:latin typeface="Arial"/>
              </a:rPr>
              <a:t>▸ </a:t>
            </a:r>
            <a:r>
              <a:rPr sz="1500" b="0">
                <a:solidFill>
                  <a:srgbClr val="1A1A1A"/>
                </a:solidFill>
                <a:latin typeface="Arial"/>
              </a:rPr>
              <a:t>Compatible con tejido FFPE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08000" y="846000"/>
            <a:ext cx="3992400" cy="5400000"/>
          </a:xfrm>
          <a:prstGeom prst="rect">
            <a:avLst/>
          </a:prstGeom>
          <a:noFill/>
          <a:ln w="2857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83600" y="900000"/>
            <a:ext cx="3841200" cy="331200"/>
          </a:xfrm>
          <a:prstGeom prst="rect">
            <a:avLst/>
          </a:prstGeom>
          <a:solidFill>
            <a:srgbClr val="F9CB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16000" y="889200"/>
            <a:ext cx="3776400" cy="36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Arial"/>
              </a:rPr>
              <a:t>¿Por qué Xenium?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316000" y="1278000"/>
            <a:ext cx="1852200" cy="1800000"/>
          </a:xfrm>
          <a:prstGeom prst="rect">
            <a:avLst/>
          </a:prstGeom>
          <a:noFill/>
          <a:ln w="19050">
            <a:solidFill>
              <a:srgbClr val="BF6A0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24000" y="1386000"/>
            <a:ext cx="1636200" cy="15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BF6A02"/>
                </a:solidFill>
                <a:latin typeface="Arial"/>
              </a:rPr>
              <a:t>[ pegar la figura: Mapa de expresión génica ]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222200" y="1278000"/>
            <a:ext cx="1852200" cy="1800000"/>
          </a:xfrm>
          <a:prstGeom prst="rect">
            <a:avLst/>
          </a:prstGeom>
          <a:noFill/>
          <a:ln w="19050">
            <a:solidFill>
              <a:srgbClr val="BF6A0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330200" y="1386000"/>
            <a:ext cx="1636200" cy="15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BF6A02"/>
                </a:solidFill>
                <a:latin typeface="Arial"/>
              </a:rPr>
              <a:t>[ pegar la figura: Mapa de proteínas (Bundle) 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16000" y="3150000"/>
            <a:ext cx="37764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  <a:latin typeface="Arial"/>
              </a:rPr>
              <a:t>RNA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22200" y="3150000"/>
            <a:ext cx="18522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  <a:latin typeface="Arial"/>
              </a:rPr>
              <a:t>+  Proteínas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316000" y="3474000"/>
            <a:ext cx="3776400" cy="468000"/>
          </a:xfrm>
          <a:prstGeom prst="rect">
            <a:avLst/>
          </a:prstGeom>
          <a:solidFill>
            <a:srgbClr val="F4CCCC"/>
          </a:solidFill>
          <a:ln w="12700">
            <a:solidFill>
              <a:srgbClr val="BF6A0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88000" y="3510000"/>
            <a:ext cx="36324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Arial"/>
              </a:rPr>
              <a:t>Xenium Protein Bundle 2025 (opcional)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16000" y="4014000"/>
            <a:ext cx="3776400" cy="21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300" b="1">
                <a:solidFill>
                  <a:srgbClr val="1A1A1A"/>
                </a:solidFill>
                <a:latin typeface="Arial"/>
              </a:rPr>
              <a:t>▸ </a:t>
            </a:r>
            <a:r>
              <a:rPr sz="1500" b="0">
                <a:solidFill>
                  <a:srgbClr val="1A1A1A"/>
                </a:solidFill>
                <a:latin typeface="Arial"/>
              </a:rPr>
              <a:t>Genes detectados in situ (380 + 50 add-on)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300" b="1">
                <a:solidFill>
                  <a:srgbClr val="1A1A1A"/>
                </a:solidFill>
                <a:latin typeface="Arial"/>
              </a:rPr>
              <a:t>▸ </a:t>
            </a:r>
            <a:r>
              <a:rPr sz="1500" b="0">
                <a:solidFill>
                  <a:srgbClr val="1A1A1A"/>
                </a:solidFill>
                <a:latin typeface="Arial"/>
              </a:rPr>
              <a:t>Mapa espacial de expresión génica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300" b="1">
                <a:solidFill>
                  <a:srgbClr val="1A1A1A"/>
                </a:solidFill>
                <a:latin typeface="Arial"/>
              </a:rPr>
              <a:t>▸ </a:t>
            </a:r>
            <a:r>
              <a:rPr sz="1500" b="0">
                <a:solidFill>
                  <a:srgbClr val="1A1A1A"/>
                </a:solidFill>
                <a:latin typeface="Arial"/>
              </a:rPr>
              <a:t>Proteínas + RNA en la misma célula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204000" cy="687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204000" cy="827999"/>
          </a:xfrm>
          <a:prstGeom prst="rect">
            <a:avLst/>
          </a:prstGeom>
          <a:solidFill>
            <a:srgbClr val="0737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0000" y="136800"/>
            <a:ext cx="10584000" cy="6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"/>
              </a:rPr>
              <a:t>¿Cómo funciona Xenium? Tecnología experimental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64000" y="216000"/>
            <a:ext cx="1332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00D4FF"/>
                </a:solidFill>
                <a:latin typeface="Arial"/>
              </a:rPr>
              <a:t>2 /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0000" y="6372000"/>
            <a:ext cx="11844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Arial"/>
              </a:rPr>
              <a:t>Miguel Ángel Díaz Campos  ·  Dr. Alfredo de Jesús Rodríguez Gómez  ·  Laboratorio de Fallas Medulares  · 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13999"/>
            <a:ext cx="12204000" cy="162000"/>
          </a:xfrm>
          <a:prstGeom prst="rect">
            <a:avLst/>
          </a:prstGeom>
          <a:solidFill>
            <a:srgbClr val="141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6000" y="900000"/>
            <a:ext cx="55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Arial"/>
              </a:rPr>
              <a:t>Flujo de detección Xenium</a:t>
            </a:r>
          </a:p>
        </p:txBody>
      </p:sp>
      <p:sp>
        <p:nvSpPr>
          <p:cNvPr id="9" name="Rectangle 8"/>
          <p:cNvSpPr/>
          <p:nvPr/>
        </p:nvSpPr>
        <p:spPr>
          <a:xfrm>
            <a:off x="251999" y="1296000"/>
            <a:ext cx="5544000" cy="216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1999" y="1368000"/>
            <a:ext cx="5544000" cy="5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200" b="1">
                <a:solidFill>
                  <a:srgbClr val="1A1A1A"/>
                </a:solidFill>
                <a:latin typeface="Arial"/>
              </a:rPr>
              <a:t>▸ </a:t>
            </a:r>
            <a:r>
              <a:rPr sz="1400" b="0">
                <a:solidFill>
                  <a:srgbClr val="1A1A1A"/>
                </a:solidFill>
                <a:latin typeface="Arial"/>
              </a:rPr>
              <a:t>Sondas padlock (RNA) y anticuerpos conjugados (proteínas) se unen a sus blancos en cortes de tejido intacto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200" b="1">
                <a:solidFill>
                  <a:srgbClr val="1A1A1A"/>
                </a:solidFill>
                <a:latin typeface="Arial"/>
              </a:rPr>
              <a:t>▸ </a:t>
            </a:r>
            <a:r>
              <a:rPr sz="1400" b="0">
                <a:solidFill>
                  <a:srgbClr val="1A1A1A"/>
                </a:solidFill>
                <a:latin typeface="Arial"/>
              </a:rPr>
              <a:t>Amplificación en círculo rodante (RCA): las sondas hibridadas forman 'DNA nanoballs' fluorescentes detectables por microscopía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200" b="1">
                <a:solidFill>
                  <a:srgbClr val="1A1A1A"/>
                </a:solidFill>
                <a:latin typeface="Arial"/>
              </a:rPr>
              <a:t>▸ </a:t>
            </a:r>
            <a:r>
              <a:rPr sz="1400" b="0">
                <a:solidFill>
                  <a:srgbClr val="1A1A1A"/>
                </a:solidFill>
                <a:latin typeface="Arial"/>
              </a:rPr>
              <a:t>Ciclos de imagen: 4 colores fluorescentes × múltiples rondas → código óptico único de barras para cada gen / proteína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200" b="1">
                <a:solidFill>
                  <a:srgbClr val="1A1A1A"/>
                </a:solidFill>
                <a:latin typeface="Arial"/>
              </a:rPr>
              <a:t>▸ </a:t>
            </a:r>
            <a:r>
              <a:rPr sz="1400" b="0">
                <a:solidFill>
                  <a:srgbClr val="1A1A1A"/>
                </a:solidFill>
                <a:latin typeface="Arial"/>
              </a:rPr>
              <a:t>Resultado: millones de transcritos y proteínas con coordenadas (X, Y) precisas en el tejido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200" b="1">
                <a:solidFill>
                  <a:srgbClr val="1A1A1A"/>
                </a:solidFill>
                <a:latin typeface="Arial"/>
              </a:rPr>
              <a:t>▸ </a:t>
            </a:r>
            <a:r>
              <a:rPr sz="1400" b="0">
                <a:solidFill>
                  <a:srgbClr val="1A1A1A"/>
                </a:solidFill>
                <a:latin typeface="Arial"/>
              </a:rPr>
              <a:t>FFPE compatible: funciona con tejido fijado en formalina e incluido en parafina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0000" y="900000"/>
            <a:ext cx="6156000" cy="5220000"/>
          </a:xfrm>
          <a:prstGeom prst="rect">
            <a:avLst/>
          </a:prstGeom>
          <a:noFill/>
          <a:ln w="19050">
            <a:solidFill>
              <a:srgbClr val="BF6A0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48000" y="1008000"/>
            <a:ext cx="5940000" cy="500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BF6A02"/>
                </a:solidFill>
                <a:latin typeface="Arial"/>
              </a:rPr>
              <a:t>[ pegar la figura: Ciclo de detección Xenium: hibridación → amplificación RCA → ciclos de imagen fluorescente → decodificación óptica por gen 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204000" cy="687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204000" cy="827999"/>
          </a:xfrm>
          <a:prstGeom prst="rect">
            <a:avLst/>
          </a:prstGeom>
          <a:solidFill>
            <a:srgbClr val="0737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0000" y="136800"/>
            <a:ext cx="10584000" cy="6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"/>
              </a:rPr>
              <a:t>Análisis computacional: del tejido al atlas celular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64000" y="216000"/>
            <a:ext cx="1332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00D4FF"/>
                </a:solidFill>
                <a:latin typeface="Arial"/>
              </a:rPr>
              <a:t>3 /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0000" y="6372000"/>
            <a:ext cx="11844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Arial"/>
              </a:rPr>
              <a:t>Miguel Ángel Díaz Campos  ·  Dr. Alfredo de Jesús Rodríguez Gómez  ·  Laboratorio de Fallas Medulares  · 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13999"/>
            <a:ext cx="12204000" cy="162000"/>
          </a:xfrm>
          <a:prstGeom prst="rect">
            <a:avLst/>
          </a:prstGeom>
          <a:solidFill>
            <a:srgbClr val="141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6000" y="972000"/>
            <a:ext cx="86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Arial"/>
              </a:rPr>
              <a:t>5 pasos: imagen → segmentación → QC → clustering → análisis espacial</a:t>
            </a:r>
          </a:p>
        </p:txBody>
      </p:sp>
      <p:sp>
        <p:nvSpPr>
          <p:cNvPr id="9" name="Rectangle 8"/>
          <p:cNvSpPr/>
          <p:nvPr/>
        </p:nvSpPr>
        <p:spPr>
          <a:xfrm>
            <a:off x="180000" y="1296000"/>
            <a:ext cx="2196000" cy="2700000"/>
          </a:xfrm>
          <a:prstGeom prst="rect">
            <a:avLst/>
          </a:prstGeom>
          <a:solidFill>
            <a:srgbClr val="D9D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8000" y="1368000"/>
            <a:ext cx="198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Arial"/>
              </a:rPr>
              <a:t>1. Segmentación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000" y="1674000"/>
            <a:ext cx="1980000" cy="22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100" b="1">
                <a:solidFill>
                  <a:srgbClr val="1A1A1A"/>
                </a:solidFill>
                <a:latin typeface="Arial"/>
              </a:rPr>
              <a:t>▸ </a:t>
            </a:r>
            <a:r>
              <a:rPr sz="1300" b="0">
                <a:solidFill>
                  <a:srgbClr val="1A1A1A"/>
                </a:solidFill>
                <a:latin typeface="Arial"/>
              </a:rPr>
              <a:t>StarDist / Baysor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100" b="1">
                <a:solidFill>
                  <a:srgbClr val="1A1A1A"/>
                </a:solidFill>
                <a:latin typeface="Arial"/>
              </a:rPr>
              <a:t>▸ </a:t>
            </a:r>
            <a:r>
              <a:rPr sz="1300" b="0">
                <a:solidFill>
                  <a:srgbClr val="1A1A1A"/>
                </a:solidFill>
                <a:latin typeface="Arial"/>
              </a:rPr>
              <a:t>Núcleo + citoplasma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100" b="1">
                <a:solidFill>
                  <a:srgbClr val="1A1A1A"/>
                </a:solidFill>
                <a:latin typeface="Arial"/>
              </a:rPr>
              <a:t>▸ </a:t>
            </a:r>
            <a:r>
              <a:rPr sz="1300" b="0">
                <a:solidFill>
                  <a:srgbClr val="1A1A1A"/>
                </a:solidFill>
                <a:latin typeface="Arial"/>
              </a:rPr>
              <a:t>Máscara única por célula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455200" y="1296000"/>
            <a:ext cx="2196000" cy="27000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63200" y="1368000"/>
            <a:ext cx="198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Arial"/>
              </a:rPr>
              <a:t>2. Control de calidad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3200" y="1674000"/>
            <a:ext cx="1980000" cy="22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100" b="1">
                <a:solidFill>
                  <a:srgbClr val="1A1A1A"/>
                </a:solidFill>
                <a:latin typeface="Arial"/>
              </a:rPr>
              <a:t>▸ </a:t>
            </a:r>
            <a:r>
              <a:rPr sz="1300" b="0">
                <a:solidFill>
                  <a:srgbClr val="1A1A1A"/>
                </a:solidFill>
                <a:latin typeface="Arial"/>
              </a:rPr>
              <a:t>Genes/célula (umbral)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100" b="1">
                <a:solidFill>
                  <a:srgbClr val="1A1A1A"/>
                </a:solidFill>
                <a:latin typeface="Arial"/>
              </a:rPr>
              <a:t>▸ </a:t>
            </a:r>
            <a:r>
              <a:rPr sz="1300" b="0">
                <a:solidFill>
                  <a:srgbClr val="1A1A1A"/>
                </a:solidFill>
                <a:latin typeface="Arial"/>
              </a:rPr>
              <a:t>Transcritos/célula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100" b="1">
                <a:solidFill>
                  <a:srgbClr val="1A1A1A"/>
                </a:solidFill>
                <a:latin typeface="Arial"/>
              </a:rPr>
              <a:t>▸ </a:t>
            </a:r>
            <a:r>
              <a:rPr sz="1300" b="0">
                <a:solidFill>
                  <a:srgbClr val="1A1A1A"/>
                </a:solidFill>
                <a:latin typeface="Arial"/>
              </a:rPr>
              <a:t>Eliminar artefactos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30400" y="1296000"/>
            <a:ext cx="2196000" cy="2700000"/>
          </a:xfrm>
          <a:prstGeom prst="rect">
            <a:avLst/>
          </a:prstGeom>
          <a:solidFill>
            <a:srgbClr val="F9CB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38400" y="1368000"/>
            <a:ext cx="198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Arial"/>
              </a:rPr>
              <a:t>3. Clustering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38400" y="1674000"/>
            <a:ext cx="1980000" cy="22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100" b="1">
                <a:solidFill>
                  <a:srgbClr val="1A1A1A"/>
                </a:solidFill>
                <a:latin typeface="Arial"/>
              </a:rPr>
              <a:t>▸ </a:t>
            </a:r>
            <a:r>
              <a:rPr sz="1300" b="0">
                <a:solidFill>
                  <a:srgbClr val="1A1A1A"/>
                </a:solidFill>
                <a:latin typeface="Arial"/>
              </a:rPr>
              <a:t>PCA → UMAP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100" b="1">
                <a:solidFill>
                  <a:srgbClr val="1A1A1A"/>
                </a:solidFill>
                <a:latin typeface="Arial"/>
              </a:rPr>
              <a:t>▸ </a:t>
            </a:r>
            <a:r>
              <a:rPr sz="1300" b="0">
                <a:solidFill>
                  <a:srgbClr val="1A1A1A"/>
                </a:solidFill>
                <a:latin typeface="Arial"/>
              </a:rPr>
              <a:t>Leiden clustering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100" b="1">
                <a:solidFill>
                  <a:srgbClr val="1A1A1A"/>
                </a:solidFill>
                <a:latin typeface="Arial"/>
              </a:rPr>
              <a:t>▸ </a:t>
            </a:r>
            <a:r>
              <a:rPr sz="1300" b="0">
                <a:solidFill>
                  <a:srgbClr val="1A1A1A"/>
                </a:solidFill>
                <a:latin typeface="Arial"/>
              </a:rPr>
              <a:t>Grupos sin supervisión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005600" y="1296000"/>
            <a:ext cx="2196000" cy="27000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13600" y="1368000"/>
            <a:ext cx="198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Arial"/>
              </a:rPr>
              <a:t>4. Anotación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13600" y="1674000"/>
            <a:ext cx="1980000" cy="22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100" b="1">
                <a:solidFill>
                  <a:srgbClr val="1A1A1A"/>
                </a:solidFill>
                <a:latin typeface="Arial"/>
              </a:rPr>
              <a:t>▸ </a:t>
            </a:r>
            <a:r>
              <a:rPr sz="1300" b="0">
                <a:solidFill>
                  <a:srgbClr val="1A1A1A"/>
                </a:solidFill>
                <a:latin typeface="Arial"/>
              </a:rPr>
              <a:t>Marcadores del tejido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100" b="1">
                <a:solidFill>
                  <a:srgbClr val="1A1A1A"/>
                </a:solidFill>
                <a:latin typeface="Arial"/>
              </a:rPr>
              <a:t>▸ </a:t>
            </a:r>
            <a:r>
              <a:rPr sz="1300" b="0">
                <a:solidFill>
                  <a:srgbClr val="1A1A1A"/>
                </a:solidFill>
                <a:latin typeface="Arial"/>
              </a:rPr>
              <a:t>Identidad celular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100" b="1">
                <a:solidFill>
                  <a:srgbClr val="1A1A1A"/>
                </a:solidFill>
                <a:latin typeface="Arial"/>
              </a:rPr>
              <a:t>▸ </a:t>
            </a:r>
            <a:r>
              <a:rPr sz="1300" b="0">
                <a:solidFill>
                  <a:srgbClr val="1A1A1A"/>
                </a:solidFill>
                <a:latin typeface="Arial"/>
              </a:rPr>
              <a:t>Revisada manualmente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280800" y="1296000"/>
            <a:ext cx="2196000" cy="2700000"/>
          </a:xfrm>
          <a:prstGeom prst="rect">
            <a:avLst/>
          </a:prstGeom>
          <a:solidFill>
            <a:srgbClr val="E8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88800" y="1368000"/>
            <a:ext cx="198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Arial"/>
              </a:rPr>
              <a:t>5. Análisis espacial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88800" y="1674000"/>
            <a:ext cx="1980000" cy="22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100" b="1">
                <a:solidFill>
                  <a:srgbClr val="1A1A1A"/>
                </a:solidFill>
                <a:latin typeface="Arial"/>
              </a:rPr>
              <a:t>▸ </a:t>
            </a:r>
            <a:r>
              <a:rPr sz="1300" b="0">
                <a:solidFill>
                  <a:srgbClr val="1A1A1A"/>
                </a:solidFill>
                <a:latin typeface="Arial"/>
              </a:rPr>
              <a:t>Vecindarios (Squidpy)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100" b="1">
                <a:solidFill>
                  <a:srgbClr val="1A1A1A"/>
                </a:solidFill>
                <a:latin typeface="Arial"/>
              </a:rPr>
              <a:t>▸ </a:t>
            </a:r>
            <a:r>
              <a:rPr sz="1300" b="0">
                <a:solidFill>
                  <a:srgbClr val="1A1A1A"/>
                </a:solidFill>
                <a:latin typeface="Arial"/>
              </a:rPr>
              <a:t>Coexpresión in situ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100" b="1">
                <a:solidFill>
                  <a:srgbClr val="1A1A1A"/>
                </a:solidFill>
                <a:latin typeface="Arial"/>
              </a:rPr>
              <a:t>▸ </a:t>
            </a:r>
            <a:r>
              <a:rPr sz="1300" b="0">
                <a:solidFill>
                  <a:srgbClr val="1A1A1A"/>
                </a:solidFill>
                <a:latin typeface="Arial"/>
              </a:rPr>
              <a:t>Grafos tisulares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6000" y="4104000"/>
            <a:ext cx="11772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Arial"/>
              </a:rPr>
              <a:t>Pipeline de código abierto: SpatialData  ·  Scanpy  ·  Squidpy  ·  Napari  |  Python / 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16000" y="4428000"/>
            <a:ext cx="11772000" cy="2340000"/>
          </a:xfrm>
          <a:prstGeom prst="rect">
            <a:avLst/>
          </a:prstGeom>
          <a:noFill/>
          <a:ln w="19050">
            <a:solidFill>
              <a:srgbClr val="BF6A0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4000" y="4536000"/>
            <a:ext cx="11556000" cy="21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BF6A02"/>
                </a:solidFill>
                <a:latin typeface="Arial"/>
              </a:rPr>
              <a:t>[ pegar la figura: UMAP con clusters anotados + mapa espacial del tejido con tipos celulares superpuestos (colores por cluster) 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204000" cy="687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204000" cy="827999"/>
          </a:xfrm>
          <a:prstGeom prst="rect">
            <a:avLst/>
          </a:prstGeom>
          <a:solidFill>
            <a:srgbClr val="0737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0000" y="136800"/>
            <a:ext cx="10584000" cy="6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"/>
              </a:rPr>
              <a:t>Evolución de Xenium: de 280 a 5,000 genes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64000" y="216000"/>
            <a:ext cx="1332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00D4FF"/>
                </a:solidFill>
                <a:latin typeface="Arial"/>
              </a:rPr>
              <a:t>4 /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0000" y="6372000"/>
            <a:ext cx="11844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Arial"/>
              </a:rPr>
              <a:t>Miguel Ángel Díaz Campos  ·  Dr. Alfredo de Jesús Rodríguez Gómez  ·  Laboratorio de Fallas Medulares  · 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13999"/>
            <a:ext cx="12204000" cy="162000"/>
          </a:xfrm>
          <a:prstGeom prst="rect">
            <a:avLst/>
          </a:prstGeom>
          <a:solidFill>
            <a:srgbClr val="141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16000" y="1044000"/>
            <a:ext cx="3671999" cy="3060000"/>
          </a:xfrm>
          <a:prstGeom prst="rect">
            <a:avLst/>
          </a:prstGeom>
          <a:solidFill>
            <a:srgbClr val="D9D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4000" y="1116000"/>
            <a:ext cx="3455999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Arial"/>
              </a:rPr>
              <a:t>2022 — Xenium v1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4000" y="1422000"/>
            <a:ext cx="3455999" cy="262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200" b="1">
                <a:solidFill>
                  <a:srgbClr val="1A1A1A"/>
                </a:solidFill>
                <a:latin typeface="Arial"/>
              </a:rPr>
              <a:t>▸ </a:t>
            </a:r>
            <a:r>
              <a:rPr sz="1400" b="0">
                <a:solidFill>
                  <a:srgbClr val="1A1A1A"/>
                </a:solidFill>
                <a:latin typeface="Arial"/>
              </a:rPr>
              <a:t>Panel fijo ~280 genes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200" b="1">
                <a:solidFill>
                  <a:srgbClr val="1A1A1A"/>
                </a:solidFill>
                <a:latin typeface="Arial"/>
              </a:rPr>
              <a:t>▸ </a:t>
            </a:r>
            <a:r>
              <a:rPr sz="1400" b="0">
                <a:solidFill>
                  <a:srgbClr val="1A1A1A"/>
                </a:solidFill>
                <a:latin typeface="Arial"/>
              </a:rPr>
              <a:t>Química v1 (in situ)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200" b="1">
                <a:solidFill>
                  <a:srgbClr val="1A1A1A"/>
                </a:solidFill>
                <a:latin typeface="Arial"/>
              </a:rPr>
              <a:t>▸ </a:t>
            </a:r>
            <a:r>
              <a:rPr sz="1400" b="0">
                <a:solidFill>
                  <a:srgbClr val="1A1A1A"/>
                </a:solidFill>
                <a:latin typeface="Arial"/>
              </a:rPr>
              <a:t>Resolución subcelular ~100 nm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200" b="1">
                <a:solidFill>
                  <a:srgbClr val="1A1A1A"/>
                </a:solidFill>
                <a:latin typeface="Arial"/>
              </a:rPr>
              <a:t>▸ </a:t>
            </a:r>
            <a:r>
              <a:rPr sz="1400" b="0">
                <a:solidFill>
                  <a:srgbClr val="1A1A1A"/>
                </a:solidFill>
                <a:latin typeface="Arial"/>
              </a:rPr>
              <a:t>Tejido FFPE compatible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23999" y="2394000"/>
            <a:ext cx="1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0D4FF"/>
                </a:solidFill>
                <a:latin typeface="Arial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39998" y="1044000"/>
            <a:ext cx="3671999" cy="30600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47998" y="1116000"/>
            <a:ext cx="3455999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Arial"/>
              </a:rPr>
              <a:t>2023-24 — Xenium v2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47998" y="1422000"/>
            <a:ext cx="3455999" cy="262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200" b="1">
                <a:solidFill>
                  <a:srgbClr val="1A1A1A"/>
                </a:solidFill>
                <a:latin typeface="Arial"/>
              </a:rPr>
              <a:t>▸ </a:t>
            </a:r>
            <a:r>
              <a:rPr sz="1400" b="0">
                <a:solidFill>
                  <a:srgbClr val="1A1A1A"/>
                </a:solidFill>
                <a:latin typeface="Arial"/>
              </a:rPr>
              <a:t>Paneles add-on personalizados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200" b="1">
                <a:solidFill>
                  <a:srgbClr val="1A1A1A"/>
                </a:solidFill>
                <a:latin typeface="Arial"/>
              </a:rPr>
              <a:t>▸ </a:t>
            </a:r>
            <a:r>
              <a:rPr sz="1400" b="0">
                <a:solidFill>
                  <a:srgbClr val="1A1A1A"/>
                </a:solidFill>
                <a:latin typeface="Arial"/>
              </a:rPr>
              <a:t>Menor tasa de error de decodificación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200" b="1">
                <a:solidFill>
                  <a:srgbClr val="1A1A1A"/>
                </a:solidFill>
                <a:latin typeface="Arial"/>
              </a:rPr>
              <a:t>▸ </a:t>
            </a:r>
            <a:r>
              <a:rPr sz="1400" b="0">
                <a:solidFill>
                  <a:srgbClr val="1A1A1A"/>
                </a:solidFill>
                <a:latin typeface="Arial"/>
              </a:rPr>
              <a:t>Segmentación nuclear mejorada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200" b="1">
                <a:solidFill>
                  <a:srgbClr val="1A1A1A"/>
                </a:solidFill>
                <a:latin typeface="Arial"/>
              </a:rPr>
              <a:t>▸ </a:t>
            </a:r>
            <a:r>
              <a:rPr sz="1400" b="0">
                <a:solidFill>
                  <a:srgbClr val="1A1A1A"/>
                </a:solidFill>
                <a:latin typeface="Arial"/>
              </a:rPr>
              <a:t>Xenium Explorer (visualizador)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47997" y="2394000"/>
            <a:ext cx="1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0D4FF"/>
                </a:solidFill>
                <a:latin typeface="Arial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63996" y="1044000"/>
            <a:ext cx="3671999" cy="3060000"/>
          </a:xfrm>
          <a:prstGeom prst="rect">
            <a:avLst/>
          </a:prstGeom>
          <a:solidFill>
            <a:srgbClr val="F9CB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71996" y="1116000"/>
            <a:ext cx="3455999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Arial"/>
              </a:rPr>
              <a:t>2025 — Xenium 5K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71996" y="1422000"/>
            <a:ext cx="3455999" cy="262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200" b="1">
                <a:solidFill>
                  <a:srgbClr val="1A1A1A"/>
                </a:solidFill>
                <a:latin typeface="Arial"/>
              </a:rPr>
              <a:t>▸ </a:t>
            </a:r>
            <a:r>
              <a:rPr sz="1400" b="0">
                <a:solidFill>
                  <a:srgbClr val="1A1A1A"/>
                </a:solidFill>
                <a:latin typeface="Arial"/>
              </a:rPr>
              <a:t>~5,000 genes simultáneos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200" b="1">
                <a:solidFill>
                  <a:srgbClr val="1A1A1A"/>
                </a:solidFill>
                <a:latin typeface="Arial"/>
              </a:rPr>
              <a:t>▸ </a:t>
            </a:r>
            <a:r>
              <a:rPr sz="1400" b="0">
                <a:solidFill>
                  <a:srgbClr val="1A1A1A"/>
                </a:solidFill>
                <a:latin typeface="Arial"/>
              </a:rPr>
              <a:t>RNA + proteínas en el mismo run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200" b="1">
                <a:solidFill>
                  <a:srgbClr val="1A1A1A"/>
                </a:solidFill>
                <a:latin typeface="Arial"/>
              </a:rPr>
              <a:t>▸ </a:t>
            </a:r>
            <a:r>
              <a:rPr sz="1400" b="0">
                <a:solidFill>
                  <a:srgbClr val="1A1A1A"/>
                </a:solidFill>
                <a:latin typeface="Arial"/>
              </a:rPr>
              <a:t>Mayor cobertura transcriptómica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200" b="1">
                <a:solidFill>
                  <a:srgbClr val="1A1A1A"/>
                </a:solidFill>
                <a:latin typeface="Arial"/>
              </a:rPr>
              <a:t>▸ </a:t>
            </a:r>
            <a:r>
              <a:rPr sz="1400" b="0">
                <a:solidFill>
                  <a:srgbClr val="1A1A1A"/>
                </a:solidFill>
                <a:latin typeface="Arial"/>
              </a:rPr>
              <a:t>Integración pipeline open-source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6000" y="4248000"/>
            <a:ext cx="11772000" cy="432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0000" y="4284000"/>
            <a:ext cx="11484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41E45"/>
                </a:solidFill>
                <a:latin typeface="Arial"/>
              </a:rPr>
              <a:t>280 genes (2022)  →  5,000 genes (2025)  |  + RNA &amp; Protein Bundle  |  Misma resolución subcelular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204000" cy="687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204000" cy="827999"/>
          </a:xfrm>
          <a:prstGeom prst="rect">
            <a:avLst/>
          </a:prstGeom>
          <a:solidFill>
            <a:srgbClr val="0737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0000" y="136800"/>
            <a:ext cx="10584000" cy="6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"/>
              </a:rPr>
              <a:t>Xenium RNA &amp; Protein Bundle: transcriptómica + proteómica en una célula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64000" y="216000"/>
            <a:ext cx="1332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00D4FF"/>
                </a:solidFill>
                <a:latin typeface="Arial"/>
              </a:rPr>
              <a:t>5 /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0000" y="6372000"/>
            <a:ext cx="11844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Arial"/>
              </a:rPr>
              <a:t>Miguel Ángel Díaz Campos  ·  Dr. Alfredo de Jesús Rodríguez Gómez  ·  Laboratorio de Fallas Medulares  · 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13999"/>
            <a:ext cx="12204000" cy="162000"/>
          </a:xfrm>
          <a:prstGeom prst="rect">
            <a:avLst/>
          </a:prstGeom>
          <a:solidFill>
            <a:srgbClr val="141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6000" y="972000"/>
            <a:ext cx="54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  <a:latin typeface="Arial"/>
              </a:rPr>
              <a:t>¿Qué es el Protein Bundle?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6000" y="1296000"/>
            <a:ext cx="540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Arial"/>
              </a:rPr>
              <a:t>Anticuerpos conjugados co-procesados en el mismo run de Xenium. Detecta hasta 27 proteínas junto con los transcritos de ARN, en la misma célula y el mismo corte de tejido.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6000" y="1944000"/>
            <a:ext cx="2592000" cy="1512000"/>
          </a:xfrm>
          <a:prstGeom prst="rect">
            <a:avLst/>
          </a:prstGeom>
          <a:solidFill>
            <a:srgbClr val="D9D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4000" y="2016000"/>
            <a:ext cx="2376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Arial"/>
              </a:rPr>
              <a:t>Linfocitos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000" y="2322000"/>
            <a:ext cx="2376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100" b="1">
                <a:solidFill>
                  <a:srgbClr val="1A1A1A"/>
                </a:solidFill>
                <a:latin typeface="Arial"/>
              </a:rPr>
              <a:t>▸ </a:t>
            </a:r>
            <a:r>
              <a:rPr sz="1300" b="0">
                <a:solidFill>
                  <a:srgbClr val="1A1A1A"/>
                </a:solidFill>
                <a:latin typeface="Arial"/>
              </a:rPr>
              <a:t>CD3 · CD4 · CD8 · CD20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100" b="1">
                <a:solidFill>
                  <a:srgbClr val="1A1A1A"/>
                </a:solidFill>
                <a:latin typeface="Arial"/>
              </a:rPr>
              <a:t>▸ </a:t>
            </a:r>
            <a:r>
              <a:rPr sz="1300" b="0">
                <a:solidFill>
                  <a:srgbClr val="1A1A1A"/>
                </a:solidFill>
                <a:latin typeface="Arial"/>
              </a:rPr>
              <a:t>CD45RA · CD45RO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87200" y="1944000"/>
            <a:ext cx="2592000" cy="15120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95200" y="2016000"/>
            <a:ext cx="2376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Arial"/>
              </a:rPr>
              <a:t>Mieloides/Macro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95200" y="2322000"/>
            <a:ext cx="2376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100" b="1">
                <a:solidFill>
                  <a:srgbClr val="1A1A1A"/>
                </a:solidFill>
                <a:latin typeface="Arial"/>
              </a:rPr>
              <a:t>▸ </a:t>
            </a:r>
            <a:r>
              <a:rPr sz="1300" b="0">
                <a:solidFill>
                  <a:srgbClr val="1A1A1A"/>
                </a:solidFill>
                <a:latin typeface="Arial"/>
              </a:rPr>
              <a:t>CD68 · CD163 · CD11c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100" b="1">
                <a:solidFill>
                  <a:srgbClr val="1A1A1A"/>
                </a:solidFill>
                <a:latin typeface="Arial"/>
              </a:rPr>
              <a:t>▸ </a:t>
            </a:r>
            <a:r>
              <a:rPr sz="1300" b="0">
                <a:solidFill>
                  <a:srgbClr val="1A1A1A"/>
                </a:solidFill>
                <a:latin typeface="Arial"/>
              </a:rPr>
              <a:t>HLA-DR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558400" y="1944000"/>
            <a:ext cx="2592000" cy="1512000"/>
          </a:xfrm>
          <a:prstGeom prst="rect">
            <a:avLst/>
          </a:prstGeom>
          <a:solidFill>
            <a:srgbClr val="F9CB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6400" y="2016000"/>
            <a:ext cx="2376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Arial"/>
              </a:rPr>
              <a:t>Activación func.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6400" y="2322000"/>
            <a:ext cx="2376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100" b="1">
                <a:solidFill>
                  <a:srgbClr val="1A1A1A"/>
                </a:solidFill>
                <a:latin typeface="Arial"/>
              </a:rPr>
              <a:t>▸ </a:t>
            </a:r>
            <a:r>
              <a:rPr sz="1300" b="0">
                <a:solidFill>
                  <a:srgbClr val="1A1A1A"/>
                </a:solidFill>
                <a:latin typeface="Arial"/>
              </a:rPr>
              <a:t>Granzyme B · Ki-67 · PCNA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0" y="1944000"/>
            <a:ext cx="2592000" cy="15120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37600" y="2016000"/>
            <a:ext cx="2376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Arial"/>
              </a:rPr>
              <a:t>Checkpoints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37600" y="2322000"/>
            <a:ext cx="2376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100" b="1">
                <a:solidFill>
                  <a:srgbClr val="1A1A1A"/>
                </a:solidFill>
                <a:latin typeface="Arial"/>
              </a:rPr>
              <a:t>▸ </a:t>
            </a:r>
            <a:r>
              <a:rPr sz="1300" b="0">
                <a:solidFill>
                  <a:srgbClr val="1A1A1A"/>
                </a:solidFill>
                <a:latin typeface="Arial"/>
              </a:rPr>
              <a:t>PD-1 · PD-L1 · VISTA · LAG3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16000" y="3528000"/>
            <a:ext cx="5220000" cy="5400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0000" y="3564000"/>
            <a:ext cx="4932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Arial"/>
              </a:rPr>
              <a:t>Para clínicos: los mismos marcadores de inmunohistoquímica — en un solo experimento, con coordenadas espaciales y sin perder el transcriptoma.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51999" y="936000"/>
            <a:ext cx="6336000" cy="5112000"/>
          </a:xfrm>
          <a:prstGeom prst="rect">
            <a:avLst/>
          </a:prstGeom>
          <a:noFill/>
          <a:ln w="19050">
            <a:solidFill>
              <a:srgbClr val="BF6A0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59999" y="1044000"/>
            <a:ext cx="6120000" cy="48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BF6A02"/>
                </a:solidFill>
                <a:latin typeface="Arial"/>
              </a:rPr>
              <a:t>[ pegar la figura: Corte de tejido con transcritos de RNA (puntos de colores por gen) superpuesto con señal proteica (ej. CD68 macrófagos en pseudocolor) 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204000" cy="687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204000" cy="827999"/>
          </a:xfrm>
          <a:prstGeom prst="rect">
            <a:avLst/>
          </a:prstGeom>
          <a:solidFill>
            <a:srgbClr val="0737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0000" y="136800"/>
            <a:ext cx="10584000" cy="6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"/>
              </a:rPr>
              <a:t>Xenium en perspectiva: CyCIF vs Visium vs Xenium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64000" y="216000"/>
            <a:ext cx="1332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00D4FF"/>
                </a:solidFill>
                <a:latin typeface="Arial"/>
              </a:rPr>
              <a:t>6 /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0000" y="6372000"/>
            <a:ext cx="11844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Arial"/>
              </a:rPr>
              <a:t>Miguel Ángel Díaz Campos  ·  Dr. Alfredo de Jesús Rodríguez Gómez  ·  Laboratorio de Fallas Medulares  · 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13999"/>
            <a:ext cx="12204000" cy="162000"/>
          </a:xfrm>
          <a:prstGeom prst="rect">
            <a:avLst/>
          </a:prstGeom>
          <a:solidFill>
            <a:srgbClr val="141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6000" y="972000"/>
            <a:ext cx="90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Arial"/>
              </a:rPr>
              <a:t>Xenium integra resolución unicelular (CyCIF) + transcriptómica espacial (Visium) en una sola plataforma</a:t>
            </a:r>
          </a:p>
        </p:txBody>
      </p:sp>
      <p:sp>
        <p:nvSpPr>
          <p:cNvPr id="9" name="Rectangle 8"/>
          <p:cNvSpPr/>
          <p:nvPr/>
        </p:nvSpPr>
        <p:spPr>
          <a:xfrm>
            <a:off x="216000" y="1332000"/>
            <a:ext cx="2268000" cy="396000"/>
          </a:xfrm>
          <a:prstGeom prst="rect">
            <a:avLst/>
          </a:prstGeom>
          <a:solidFill>
            <a:srgbClr val="141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0000" y="1386000"/>
            <a:ext cx="216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Característica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84000" y="1332000"/>
            <a:ext cx="2088000" cy="396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38000" y="1386000"/>
            <a:ext cx="198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CyCIF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0" y="1332000"/>
            <a:ext cx="2088000" cy="396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26000" y="1386000"/>
            <a:ext cx="198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Visium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60000" y="1332000"/>
            <a:ext cx="2088000" cy="396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14000" y="1386000"/>
            <a:ext cx="198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Xenium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6000" y="1728000"/>
            <a:ext cx="2268000" cy="3960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0000" y="1771200"/>
            <a:ext cx="216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A1A1A"/>
                </a:solidFill>
                <a:latin typeface="Arial"/>
              </a:rPr>
              <a:t>Resolución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84000" y="1728000"/>
            <a:ext cx="2088000" cy="3960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538000" y="1771200"/>
            <a:ext cx="198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A1A1A"/>
                </a:solidFill>
                <a:latin typeface="Arial"/>
              </a:rPr>
              <a:t>Célula única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0" y="1728000"/>
            <a:ext cx="2088000" cy="3960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26000" y="1771200"/>
            <a:ext cx="198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A1A1A"/>
                </a:solidFill>
                <a:latin typeface="Arial"/>
              </a:rPr>
              <a:t>Spot (~10 cel)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660000" y="1728000"/>
            <a:ext cx="2088000" cy="396000"/>
          </a:xfrm>
          <a:prstGeom prst="rect">
            <a:avLst/>
          </a:prstGeom>
          <a:solidFill>
            <a:srgbClr val="E8EBF5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14000" y="1771200"/>
            <a:ext cx="198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A1A1A"/>
                </a:solidFill>
                <a:latin typeface="Arial"/>
              </a:rPr>
              <a:t>Célula única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16000" y="2124000"/>
            <a:ext cx="2268000" cy="396000"/>
          </a:xfrm>
          <a:prstGeom prst="rect">
            <a:avLst/>
          </a:prstGeom>
          <a:solidFill>
            <a:srgbClr val="F5F5FA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0000" y="2167200"/>
            <a:ext cx="216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A1A1A"/>
                </a:solidFill>
                <a:latin typeface="Arial"/>
              </a:rPr>
              <a:t>Modalidad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484000" y="2124000"/>
            <a:ext cx="2088000" cy="396000"/>
          </a:xfrm>
          <a:prstGeom prst="rect">
            <a:avLst/>
          </a:prstGeom>
          <a:solidFill>
            <a:srgbClr val="F5F5FA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538000" y="2167200"/>
            <a:ext cx="198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A1A1A"/>
                </a:solidFill>
                <a:latin typeface="Arial"/>
              </a:rPr>
              <a:t>Proteínas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0" y="2124000"/>
            <a:ext cx="2088000" cy="396000"/>
          </a:xfrm>
          <a:prstGeom prst="rect">
            <a:avLst/>
          </a:prstGeom>
          <a:solidFill>
            <a:srgbClr val="F5F5FA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26000" y="2167200"/>
            <a:ext cx="198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A1A1A"/>
                </a:solidFill>
                <a:latin typeface="Arial"/>
              </a:rPr>
              <a:t>RNA (transcriptoma)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660000" y="2124000"/>
            <a:ext cx="2088000" cy="396000"/>
          </a:xfrm>
          <a:prstGeom prst="rect">
            <a:avLst/>
          </a:prstGeom>
          <a:solidFill>
            <a:srgbClr val="E8EBF5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14000" y="2167200"/>
            <a:ext cx="198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A1A1A"/>
                </a:solidFill>
                <a:latin typeface="Arial"/>
              </a:rPr>
              <a:t>RNA dirigido + proteínas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16000" y="2520000"/>
            <a:ext cx="2268000" cy="3960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0000" y="2563200"/>
            <a:ext cx="216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A1A1A"/>
                </a:solidFill>
                <a:latin typeface="Arial"/>
              </a:rPr>
              <a:t>Cobertura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484000" y="2520000"/>
            <a:ext cx="2088000" cy="3960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538000" y="2563200"/>
            <a:ext cx="198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A1A1A"/>
                </a:solidFill>
                <a:latin typeface="Arial"/>
              </a:rPr>
              <a:t>30-50 marcadores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0" y="2520000"/>
            <a:ext cx="2088000" cy="3960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626000" y="2563200"/>
            <a:ext cx="198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A1A1A"/>
                </a:solidFill>
                <a:latin typeface="Arial"/>
              </a:rPr>
              <a:t>Transcriptoma completo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660000" y="2520000"/>
            <a:ext cx="2088000" cy="396000"/>
          </a:xfrm>
          <a:prstGeom prst="rect">
            <a:avLst/>
          </a:prstGeom>
          <a:solidFill>
            <a:srgbClr val="E8EBF5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714000" y="2563200"/>
            <a:ext cx="198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A1A1A"/>
                </a:solidFill>
                <a:latin typeface="Arial"/>
              </a:rPr>
              <a:t>100s - 5,000 genes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16000" y="2916000"/>
            <a:ext cx="2268000" cy="396000"/>
          </a:xfrm>
          <a:prstGeom prst="rect">
            <a:avLst/>
          </a:prstGeom>
          <a:solidFill>
            <a:srgbClr val="F5F5FA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70000" y="2959200"/>
            <a:ext cx="216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A1A1A"/>
                </a:solidFill>
                <a:latin typeface="Arial"/>
              </a:rPr>
              <a:t>FFPE compatible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484000" y="2916000"/>
            <a:ext cx="2088000" cy="396000"/>
          </a:xfrm>
          <a:prstGeom prst="rect">
            <a:avLst/>
          </a:prstGeom>
          <a:solidFill>
            <a:srgbClr val="F5F5FA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538000" y="2959200"/>
            <a:ext cx="198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A1A1A"/>
                </a:solidFill>
                <a:latin typeface="Arial"/>
              </a:rPr>
              <a:t>Sí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0" y="2916000"/>
            <a:ext cx="2088000" cy="396000"/>
          </a:xfrm>
          <a:prstGeom prst="rect">
            <a:avLst/>
          </a:prstGeom>
          <a:solidFill>
            <a:srgbClr val="F5F5FA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626000" y="2959200"/>
            <a:ext cx="198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A1A1A"/>
                </a:solidFill>
                <a:latin typeface="Arial"/>
              </a:rPr>
              <a:t>Sí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660000" y="2916000"/>
            <a:ext cx="2088000" cy="396000"/>
          </a:xfrm>
          <a:prstGeom prst="rect">
            <a:avLst/>
          </a:prstGeom>
          <a:solidFill>
            <a:srgbClr val="E8EBF5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714000" y="2959200"/>
            <a:ext cx="198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A1A1A"/>
                </a:solidFill>
                <a:latin typeface="Arial"/>
              </a:rPr>
              <a:t>Sí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16000" y="3312000"/>
            <a:ext cx="2268000" cy="3960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70000" y="3355200"/>
            <a:ext cx="216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A1A1A"/>
                </a:solidFill>
                <a:latin typeface="Arial"/>
              </a:rPr>
              <a:t>Contexto espacial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484000" y="3312000"/>
            <a:ext cx="2088000" cy="3960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538000" y="3355200"/>
            <a:ext cx="198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A1A1A"/>
                </a:solidFill>
                <a:latin typeface="Arial"/>
              </a:rPr>
              <a:t>Sí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572000" y="3312000"/>
            <a:ext cx="2088000" cy="3960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626000" y="3355200"/>
            <a:ext cx="198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A1A1A"/>
                </a:solidFill>
                <a:latin typeface="Arial"/>
              </a:rPr>
              <a:t>Sí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660000" y="3312000"/>
            <a:ext cx="2088000" cy="396000"/>
          </a:xfrm>
          <a:prstGeom prst="rect">
            <a:avLst/>
          </a:prstGeom>
          <a:solidFill>
            <a:srgbClr val="E8EBF5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714000" y="3355200"/>
            <a:ext cx="198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A1A1A"/>
                </a:solidFill>
                <a:latin typeface="Arial"/>
              </a:rPr>
              <a:t>Sí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16000" y="3708000"/>
            <a:ext cx="2268000" cy="396000"/>
          </a:xfrm>
          <a:prstGeom prst="rect">
            <a:avLst/>
          </a:prstGeom>
          <a:solidFill>
            <a:srgbClr val="F5F5FA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70000" y="3751200"/>
            <a:ext cx="216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A1A1A"/>
                </a:solidFill>
                <a:latin typeface="Arial"/>
              </a:rPr>
              <a:t>Panel personaliz.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484000" y="3708000"/>
            <a:ext cx="2088000" cy="396000"/>
          </a:xfrm>
          <a:prstGeom prst="rect">
            <a:avLst/>
          </a:prstGeom>
          <a:solidFill>
            <a:srgbClr val="F5F5FA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538000" y="3751200"/>
            <a:ext cx="198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A1A1A"/>
                </a:solidFill>
                <a:latin typeface="Arial"/>
              </a:rPr>
              <a:t>No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572000" y="3708000"/>
            <a:ext cx="2088000" cy="396000"/>
          </a:xfrm>
          <a:prstGeom prst="rect">
            <a:avLst/>
          </a:prstGeom>
          <a:solidFill>
            <a:srgbClr val="F5F5FA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626000" y="3751200"/>
            <a:ext cx="198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A1A1A"/>
                </a:solidFill>
                <a:latin typeface="Arial"/>
              </a:rPr>
              <a:t>No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660000" y="3708000"/>
            <a:ext cx="2088000" cy="396000"/>
          </a:xfrm>
          <a:prstGeom prst="rect">
            <a:avLst/>
          </a:prstGeom>
          <a:solidFill>
            <a:srgbClr val="E8EBF5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714000" y="3751200"/>
            <a:ext cx="198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A1A1A"/>
                </a:solidFill>
                <a:latin typeface="Arial"/>
              </a:rPr>
              <a:t>Sí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036000" y="972000"/>
            <a:ext cx="2952001" cy="5040000"/>
          </a:xfrm>
          <a:prstGeom prst="rect">
            <a:avLst/>
          </a:prstGeom>
          <a:noFill/>
          <a:ln w="19050">
            <a:solidFill>
              <a:srgbClr val="BF6A0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144000" y="1080000"/>
            <a:ext cx="2736001" cy="48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BF6A02"/>
                </a:solidFill>
                <a:latin typeface="Arial"/>
              </a:rPr>
              <a:t>[ pegar la figura: Diagrama de posicionamiento: eje X = genes detectados, eje Y = resolución espacial; burbujas CyCIF, Visium y Xenium 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204000" cy="687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204000" cy="827999"/>
          </a:xfrm>
          <a:prstGeom prst="rect">
            <a:avLst/>
          </a:prstGeom>
          <a:solidFill>
            <a:srgbClr val="0737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0000" y="136800"/>
            <a:ext cx="10584000" cy="6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"/>
              </a:rPr>
              <a:t>Mi proyecto: contexto clínico — DC/TBD y fibrosis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64000" y="216000"/>
            <a:ext cx="1332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00D4FF"/>
                </a:solidFill>
                <a:latin typeface="Arial"/>
              </a:rPr>
              <a:t>7 /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0000" y="6372000"/>
            <a:ext cx="11844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Arial"/>
              </a:rPr>
              <a:t>Miguel Ángel Díaz Campos  ·  Dr. Alfredo de Jesús Rodríguez Gómez  ·  Laboratorio de Fallas Medulares  · 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13999"/>
            <a:ext cx="12204000" cy="162000"/>
          </a:xfrm>
          <a:prstGeom prst="rect">
            <a:avLst/>
          </a:prstGeom>
          <a:solidFill>
            <a:srgbClr val="141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6000" y="972000"/>
            <a:ext cx="59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  <a:latin typeface="Arial"/>
              </a:rPr>
              <a:t>Disqueratosis Congénita (DC) / Telomere Biology Disorders (TBD)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1999" y="1296000"/>
            <a:ext cx="5760000" cy="12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200" b="1">
                <a:solidFill>
                  <a:srgbClr val="1A1A1A"/>
                </a:solidFill>
                <a:latin typeface="Arial"/>
              </a:rPr>
              <a:t>▸ </a:t>
            </a:r>
            <a:r>
              <a:rPr sz="1400" b="0">
                <a:solidFill>
                  <a:srgbClr val="1A1A1A"/>
                </a:solidFill>
                <a:latin typeface="Arial"/>
              </a:rPr>
              <a:t>Variantes en genes del mantenimiento telomérico → telómeros anormalmente cortos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200" b="1">
                <a:solidFill>
                  <a:srgbClr val="1A1A1A"/>
                </a:solidFill>
                <a:latin typeface="Arial"/>
              </a:rPr>
              <a:t>▸ </a:t>
            </a:r>
            <a:r>
              <a:rPr sz="1400" b="0">
                <a:solidFill>
                  <a:srgbClr val="1A1A1A"/>
                </a:solidFill>
                <a:latin typeface="Arial"/>
              </a:rPr>
              <a:t>Disfunción progresiva de tejidos de alta demanda regenerativa: hígado y pulmón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200" b="1">
                <a:solidFill>
                  <a:srgbClr val="1A1A1A"/>
                </a:solidFill>
                <a:latin typeface="Arial"/>
              </a:rPr>
              <a:t>▸ </a:t>
            </a:r>
            <a:r>
              <a:rPr sz="1400" b="0">
                <a:solidFill>
                  <a:srgbClr val="1A1A1A"/>
                </a:solidFill>
                <a:latin typeface="Arial"/>
              </a:rPr>
              <a:t>Fibrosis progresiva: acumulación de matriz extracelular — manifestación central de TBD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200" b="1">
                <a:solidFill>
                  <a:srgbClr val="1A1A1A"/>
                </a:solidFill>
                <a:latin typeface="Arial"/>
              </a:rPr>
              <a:t>▸ </a:t>
            </a:r>
            <a:r>
              <a:rPr sz="1400" b="0">
                <a:solidFill>
                  <a:srgbClr val="1A1A1A"/>
                </a:solidFill>
                <a:latin typeface="Arial"/>
              </a:rPr>
              <a:t>Actores clave: fibroblastos activados + macrófagos pro-fibróticos + células inmunes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6000" y="2664000"/>
            <a:ext cx="2808000" cy="1512000"/>
          </a:xfrm>
          <a:prstGeom prst="rect">
            <a:avLst/>
          </a:prstGeom>
          <a:solidFill>
            <a:srgbClr val="F9CB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4000" y="2736000"/>
            <a:ext cx="2592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Arial"/>
              </a:rPr>
              <a:t>Hígado (fibrosis hepática)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000" y="3042000"/>
            <a:ext cx="2592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200" b="1">
                <a:solidFill>
                  <a:srgbClr val="1A1A1A"/>
                </a:solidFill>
                <a:latin typeface="Arial"/>
              </a:rPr>
              <a:t>▸ </a:t>
            </a:r>
            <a:r>
              <a:rPr sz="1400" b="0">
                <a:solidFill>
                  <a:srgbClr val="1A1A1A"/>
                </a:solidFill>
                <a:latin typeface="Arial"/>
              </a:rPr>
              <a:t>Cirrosis / fibrosis hepática avanzada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200" b="1">
                <a:solidFill>
                  <a:srgbClr val="1A1A1A"/>
                </a:solidFill>
                <a:latin typeface="Arial"/>
              </a:rPr>
              <a:t>▸ </a:t>
            </a:r>
            <a:r>
              <a:rPr sz="1400" b="0">
                <a:solidFill>
                  <a:srgbClr val="1A1A1A"/>
                </a:solidFill>
                <a:latin typeface="Arial"/>
              </a:rPr>
              <a:t>Sin atlas espacial en DC/TBD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200" b="1">
                <a:solidFill>
                  <a:srgbClr val="1A1A1A"/>
                </a:solidFill>
                <a:latin typeface="Arial"/>
              </a:rPr>
              <a:t>▸ </a:t>
            </a:r>
            <a:r>
              <a:rPr sz="1400" b="0">
                <a:solidFill>
                  <a:srgbClr val="1A1A1A"/>
                </a:solidFill>
                <a:latin typeface="Arial"/>
              </a:rPr>
              <a:t>Muestras FFPE: Mayo Clinic, Rochester MN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200" b="1">
                <a:solidFill>
                  <a:srgbClr val="1A1A1A"/>
                </a:solidFill>
                <a:latin typeface="Arial"/>
              </a:rPr>
              <a:t>▸ </a:t>
            </a:r>
            <a:r>
              <a:rPr sz="1400" b="0">
                <a:solidFill>
                  <a:srgbClr val="1A1A1A"/>
                </a:solidFill>
                <a:latin typeface="Arial"/>
              </a:rPr>
              <a:t>n = 6 DC/TBD  +  6 controles con fibrosis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4000" y="2664000"/>
            <a:ext cx="2808000" cy="1512000"/>
          </a:xfrm>
          <a:prstGeom prst="rect">
            <a:avLst/>
          </a:prstGeom>
          <a:solidFill>
            <a:srgbClr val="D9D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12000" y="2736000"/>
            <a:ext cx="2592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Arial"/>
              </a:rPr>
              <a:t>Pulmón (fibrosis pulmonar)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12000" y="3042000"/>
            <a:ext cx="2592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200" b="1">
                <a:solidFill>
                  <a:srgbClr val="1A1A1A"/>
                </a:solidFill>
                <a:latin typeface="Arial"/>
              </a:rPr>
              <a:t>▸ </a:t>
            </a:r>
            <a:r>
              <a:rPr sz="1400" b="0">
                <a:solidFill>
                  <a:srgbClr val="1A1A1A"/>
                </a:solidFill>
                <a:latin typeface="Arial"/>
              </a:rPr>
              <a:t>Segunda manifestación principal de DC/TBD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200" b="1">
                <a:solidFill>
                  <a:srgbClr val="1A1A1A"/>
                </a:solidFill>
                <a:latin typeface="Arial"/>
              </a:rPr>
              <a:t>▸ </a:t>
            </a:r>
            <a:r>
              <a:rPr sz="1400" b="0">
                <a:solidFill>
                  <a:srgbClr val="1A1A1A"/>
                </a:solidFill>
                <a:latin typeface="Arial"/>
              </a:rPr>
              <a:t>Mecanismos celulares compartidos con hígado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200" b="1">
                <a:solidFill>
                  <a:srgbClr val="1A1A1A"/>
                </a:solidFill>
                <a:latin typeface="Arial"/>
              </a:rPr>
              <a:t>▸ </a:t>
            </a:r>
            <a:r>
              <a:rPr sz="1400" b="0">
                <a:solidFill>
                  <a:srgbClr val="1A1A1A"/>
                </a:solidFill>
                <a:latin typeface="Arial"/>
              </a:rPr>
              <a:t>Proyecto ampliado para incluir tejido pulmonar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200" b="1">
                <a:solidFill>
                  <a:srgbClr val="1A1A1A"/>
                </a:solidFill>
                <a:latin typeface="Arial"/>
              </a:rPr>
              <a:t>▸ </a:t>
            </a:r>
            <a:r>
              <a:rPr sz="1400" b="0">
                <a:solidFill>
                  <a:srgbClr val="1A1A1A"/>
                </a:solidFill>
                <a:latin typeface="Arial"/>
              </a:rPr>
              <a:t>Primer atlas espacial multitejido en DC/TBD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16000" y="4284000"/>
            <a:ext cx="5760000" cy="3960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000" y="4320000"/>
            <a:ext cx="5472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Arial"/>
              </a:rPr>
              <a:t>Brecha: no existe atlas espacial del nicho fibrótico en DC/TBD para ninguno de los dos órganos.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20000" y="972000"/>
            <a:ext cx="5868000" cy="4860000"/>
          </a:xfrm>
          <a:prstGeom prst="rect">
            <a:avLst/>
          </a:prstGeom>
          <a:noFill/>
          <a:ln w="19050">
            <a:solidFill>
              <a:srgbClr val="BF6A0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28000" y="1080000"/>
            <a:ext cx="5652000" cy="46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BF6A02"/>
                </a:solidFill>
                <a:latin typeface="Arial"/>
              </a:rPr>
              <a:t>[ pegar la figura: Esquema multi-órgano: paciente con DC → hígado fibrótico + pulmón fibrótico → nicho celular a caracterizar con Xenium 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204000" cy="687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204000" cy="827999"/>
          </a:xfrm>
          <a:prstGeom prst="rect">
            <a:avLst/>
          </a:prstGeom>
          <a:solidFill>
            <a:srgbClr val="0737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0000" y="136800"/>
            <a:ext cx="10584000" cy="6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"/>
              </a:rPr>
              <a:t>Mi proyecto: objetivos y estrategia metodológica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64000" y="216000"/>
            <a:ext cx="1332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00D4FF"/>
                </a:solidFill>
                <a:latin typeface="Arial"/>
              </a:rPr>
              <a:t>8 /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0000" y="6372000"/>
            <a:ext cx="11844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Arial"/>
              </a:rPr>
              <a:t>Miguel Ángel Díaz Campos  ·  Dr. Alfredo de Jesús Rodríguez Gómez  ·  Laboratorio de Fallas Medulares  · 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13999"/>
            <a:ext cx="12204000" cy="162000"/>
          </a:xfrm>
          <a:prstGeom prst="rect">
            <a:avLst/>
          </a:prstGeom>
          <a:solidFill>
            <a:srgbClr val="141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16000" y="972000"/>
            <a:ext cx="5760000" cy="576000"/>
          </a:xfrm>
          <a:prstGeom prst="rect">
            <a:avLst/>
          </a:prstGeom>
          <a:solidFill>
            <a:srgbClr val="0737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0000" y="1008000"/>
            <a:ext cx="5472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Objetivo: Caracterizar el nicho fibrótico en hígado y pulmón de pacientes con DC/TBD mediante multiómica espacial de resolución unicelular.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1999" y="1620000"/>
            <a:ext cx="5724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200" b="1">
                <a:solidFill>
                  <a:srgbClr val="1A1A1A"/>
                </a:solidFill>
                <a:latin typeface="Arial"/>
              </a:rPr>
              <a:t>▸ </a:t>
            </a:r>
            <a:r>
              <a:rPr sz="1400" b="0">
                <a:solidFill>
                  <a:srgbClr val="1A1A1A"/>
                </a:solidFill>
                <a:latin typeface="Arial"/>
              </a:rPr>
              <a:t>(i) Atlas de composición celular y organización espacial del nicho fibrótico en DC/TBD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200" b="1">
                <a:solidFill>
                  <a:srgbClr val="1A1A1A"/>
                </a:solidFill>
                <a:latin typeface="Arial"/>
              </a:rPr>
              <a:t>▸ </a:t>
            </a:r>
            <a:r>
              <a:rPr sz="1400" b="0">
                <a:solidFill>
                  <a:srgbClr val="1A1A1A"/>
                </a:solidFill>
                <a:latin typeface="Arial"/>
              </a:rPr>
              <a:t>(ii) Modelado topológico: grafos de contacto celular → vecindarios + módulos recurrentes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16000" y="2339999"/>
            <a:ext cx="3744000" cy="1980000"/>
          </a:xfrm>
          <a:prstGeom prst="rect">
            <a:avLst/>
          </a:prstGeom>
          <a:solidFill>
            <a:srgbClr val="D9D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4000" y="2411999"/>
            <a:ext cx="3528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Arial"/>
              </a:rPr>
              <a:t>Plataforma Xenium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000" y="2717999"/>
            <a:ext cx="3528000" cy="15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100" b="1">
                <a:solidFill>
                  <a:srgbClr val="1A1A1A"/>
                </a:solidFill>
                <a:latin typeface="Arial"/>
              </a:rPr>
              <a:t>▸ </a:t>
            </a:r>
            <a:r>
              <a:rPr sz="1300" b="0">
                <a:solidFill>
                  <a:srgbClr val="1A1A1A"/>
                </a:solidFill>
                <a:latin typeface="Arial"/>
              </a:rPr>
              <a:t>Human Immuno-Oncology Panel (380 genes)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100" b="1">
                <a:solidFill>
                  <a:srgbClr val="1A1A1A"/>
                </a:solidFill>
                <a:latin typeface="Arial"/>
              </a:rPr>
              <a:t>▸ </a:t>
            </a:r>
            <a:r>
              <a:rPr sz="1300" b="0">
                <a:solidFill>
                  <a:srgbClr val="1A1A1A"/>
                </a:solidFill>
                <a:latin typeface="Arial"/>
              </a:rPr>
              <a:t>50 genes add-on personalizados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100" b="1">
                <a:solidFill>
                  <a:srgbClr val="1A1A1A"/>
                </a:solidFill>
                <a:latin typeface="Arial"/>
              </a:rPr>
              <a:t>▸ </a:t>
            </a:r>
            <a:r>
              <a:rPr sz="1300" b="0">
                <a:solidFill>
                  <a:srgbClr val="1A1A1A"/>
                </a:solidFill>
                <a:latin typeface="Arial"/>
              </a:rPr>
              <a:t>RNA &amp; Protein Bundle (27 proteínas)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100" b="1">
                <a:solidFill>
                  <a:srgbClr val="1A1A1A"/>
                </a:solidFill>
                <a:latin typeface="Arial"/>
              </a:rPr>
              <a:t>▸ </a:t>
            </a:r>
            <a:r>
              <a:rPr sz="1300" b="0">
                <a:solidFill>
                  <a:srgbClr val="1A1A1A"/>
                </a:solidFill>
                <a:latin typeface="Arial"/>
              </a:rPr>
              <a:t>Tejido FFPE 5 µm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057200" y="2339999"/>
            <a:ext cx="3744000" cy="19800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65200" y="2411999"/>
            <a:ext cx="3528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Arial"/>
              </a:rPr>
              <a:t>Pipeline computacional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65200" y="2717999"/>
            <a:ext cx="3528000" cy="15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100" b="1">
                <a:solidFill>
                  <a:srgbClr val="1A1A1A"/>
                </a:solidFill>
                <a:latin typeface="Arial"/>
              </a:rPr>
              <a:t>▸ </a:t>
            </a:r>
            <a:r>
              <a:rPr sz="1300" b="0">
                <a:solidFill>
                  <a:srgbClr val="1A1A1A"/>
                </a:solidFill>
                <a:latin typeface="Arial"/>
              </a:rPr>
              <a:t>StarDist → segmentación nuclear/citoplasmática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100" b="1">
                <a:solidFill>
                  <a:srgbClr val="1A1A1A"/>
                </a:solidFill>
                <a:latin typeface="Arial"/>
              </a:rPr>
              <a:t>▸ </a:t>
            </a:r>
            <a:r>
              <a:rPr sz="1300" b="0">
                <a:solidFill>
                  <a:srgbClr val="1A1A1A"/>
                </a:solidFill>
                <a:latin typeface="Arial"/>
              </a:rPr>
              <a:t>SpatialData · Scanpy · Squidpy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100" b="1">
                <a:solidFill>
                  <a:srgbClr val="1A1A1A"/>
                </a:solidFill>
                <a:latin typeface="Arial"/>
              </a:rPr>
              <a:t>▸ </a:t>
            </a:r>
            <a:r>
              <a:rPr sz="1300" b="0">
                <a:solidFill>
                  <a:srgbClr val="1A1A1A"/>
                </a:solidFill>
                <a:latin typeface="Arial"/>
              </a:rPr>
              <a:t>Análisis topológico: grafos tisulares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100" b="1">
                <a:solidFill>
                  <a:srgbClr val="1A1A1A"/>
                </a:solidFill>
                <a:latin typeface="Arial"/>
              </a:rPr>
              <a:t>▸ </a:t>
            </a:r>
            <a:r>
              <a:rPr sz="1300" b="0">
                <a:solidFill>
                  <a:srgbClr val="1A1A1A"/>
                </a:solidFill>
                <a:latin typeface="Arial"/>
              </a:rPr>
              <a:t>Control de calidad: Napari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98400" y="2339999"/>
            <a:ext cx="3744000" cy="1980000"/>
          </a:xfrm>
          <a:prstGeom prst="rect">
            <a:avLst/>
          </a:prstGeom>
          <a:solidFill>
            <a:srgbClr val="F9CB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6400" y="2411999"/>
            <a:ext cx="3528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Arial"/>
              </a:rPr>
              <a:t>Diseño experimental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06400" y="2717999"/>
            <a:ext cx="3528000" cy="15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100" b="1">
                <a:solidFill>
                  <a:srgbClr val="1A1A1A"/>
                </a:solidFill>
                <a:latin typeface="Arial"/>
              </a:rPr>
              <a:t>▸ </a:t>
            </a:r>
            <a:r>
              <a:rPr sz="1300" b="0">
                <a:solidFill>
                  <a:srgbClr val="1A1A1A"/>
                </a:solidFill>
                <a:latin typeface="Arial"/>
              </a:rPr>
              <a:t>n = 6 DC/TBD + 6 controles (hígado)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100" b="1">
                <a:solidFill>
                  <a:srgbClr val="1A1A1A"/>
                </a:solidFill>
                <a:latin typeface="Arial"/>
              </a:rPr>
              <a:t>▸ </a:t>
            </a:r>
            <a:r>
              <a:rPr sz="1300" b="0">
                <a:solidFill>
                  <a:srgbClr val="1A1A1A"/>
                </a:solidFill>
                <a:latin typeface="Arial"/>
              </a:rPr>
              <a:t>+ tejido pulmonar (proyecto ampliado)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100" b="1">
                <a:solidFill>
                  <a:srgbClr val="1A1A1A"/>
                </a:solidFill>
                <a:latin typeface="Arial"/>
              </a:rPr>
              <a:t>▸ </a:t>
            </a:r>
            <a:r>
              <a:rPr sz="1300" b="0">
                <a:solidFill>
                  <a:srgbClr val="1A1A1A"/>
                </a:solidFill>
                <a:latin typeface="Arial"/>
              </a:rPr>
              <a:t>Muestras Mayo Clinic, FFPE archivadas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100" b="1">
                <a:solidFill>
                  <a:srgbClr val="1A1A1A"/>
                </a:solidFill>
                <a:latin typeface="Arial"/>
              </a:rPr>
              <a:t>▸ </a:t>
            </a:r>
            <a:r>
              <a:rPr sz="1300" b="0">
                <a:solidFill>
                  <a:srgbClr val="1A1A1A"/>
                </a:solidFill>
                <a:latin typeface="Arial"/>
              </a:rPr>
              <a:t>Análisis comparativo DC vs no-TBD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0000" y="972000"/>
            <a:ext cx="5868000" cy="4860000"/>
          </a:xfrm>
          <a:prstGeom prst="rect">
            <a:avLst/>
          </a:prstGeom>
          <a:noFill/>
          <a:ln w="19050">
            <a:solidFill>
              <a:srgbClr val="BF6A0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28000" y="1080000"/>
            <a:ext cx="5652000" cy="46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BF6A02"/>
                </a:solidFill>
                <a:latin typeface="Arial"/>
              </a:rPr>
              <a:t>[ pegar la figura: Diseño experimental: tejido FFPE → run Xenium → pipeline computacional → atlas fibrótico → comparación DC/TBD vs control 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204000" cy="687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204000" cy="827999"/>
          </a:xfrm>
          <a:prstGeom prst="rect">
            <a:avLst/>
          </a:prstGeom>
          <a:solidFill>
            <a:srgbClr val="0737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0000" y="136800"/>
            <a:ext cx="10584000" cy="6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"/>
              </a:rPr>
              <a:t>Conclusiones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64000" y="216000"/>
            <a:ext cx="1332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00D4FF"/>
                </a:solidFill>
                <a:latin typeface="Arial"/>
              </a:rPr>
              <a:t>9 /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0000" y="6372000"/>
            <a:ext cx="11844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Arial"/>
              </a:rPr>
              <a:t>Miguel Ángel Díaz Campos  ·  Dr. Alfredo de Jesús Rodríguez Gómez  ·  Laboratorio de Fallas Medulares  · 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13999"/>
            <a:ext cx="12204000" cy="162000"/>
          </a:xfrm>
          <a:prstGeom prst="rect">
            <a:avLst/>
          </a:prstGeom>
          <a:solidFill>
            <a:srgbClr val="141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16000" y="1080000"/>
            <a:ext cx="72000" cy="234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6000" y="1044000"/>
            <a:ext cx="2232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41E45"/>
                </a:solidFill>
                <a:latin typeface="Arial"/>
              </a:rPr>
              <a:t>Xenium: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00000" y="1044000"/>
            <a:ext cx="9288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Arial"/>
              </a:rPr>
              <a:t>Plataforma líder para mapear transcriptoma + proteoma in situ con resolución de célula única en tejido FFPE.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16000" y="1493999"/>
            <a:ext cx="72000" cy="234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6000" y="1457999"/>
            <a:ext cx="2232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41E45"/>
                </a:solidFill>
                <a:latin typeface="Arial"/>
              </a:rPr>
              <a:t>Protein Bundle: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0" y="1457999"/>
            <a:ext cx="9288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Arial"/>
              </a:rPr>
              <a:t>Detecta 27 proteínas + RNA en la misma célula — equivalente a IHQ multiplex con coordenadas espaciales.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6000" y="1907998"/>
            <a:ext cx="72000" cy="234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6000" y="1871998"/>
            <a:ext cx="2232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41E45"/>
                </a:solidFill>
                <a:latin typeface="Arial"/>
              </a:rPr>
              <a:t>Evolución: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00000" y="1871998"/>
            <a:ext cx="9288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Arial"/>
              </a:rPr>
              <a:t>De 280 genes (2022) a &gt;5,000 (2025): mayor cobertura manteniendo resolución subcelular.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6000" y="2321997"/>
            <a:ext cx="72000" cy="234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96000" y="2285997"/>
            <a:ext cx="2232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41E45"/>
                </a:solidFill>
                <a:latin typeface="Arial"/>
              </a:rPr>
              <a:t>vs Visium / CyCIF: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00000" y="2285997"/>
            <a:ext cx="9288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Arial"/>
              </a:rPr>
              <a:t>Integra lo mejor de ambas tecnologías: resolución unicelular + perfil transcriptómico dirigido.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16000" y="2735996"/>
            <a:ext cx="72000" cy="234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96000" y="2699996"/>
            <a:ext cx="2232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41E45"/>
                </a:solidFill>
                <a:latin typeface="Arial"/>
              </a:rPr>
              <a:t>Aplicación DC/TBD: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00000" y="2699996"/>
            <a:ext cx="9288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Arial"/>
              </a:rPr>
              <a:t>Primer atlas espacial del nicho fibrótico en hígado y pulmón de pacientes con disqueratosis congénita.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16000" y="3149995"/>
            <a:ext cx="72000" cy="234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96000" y="3113995"/>
            <a:ext cx="2232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41E45"/>
                </a:solidFill>
                <a:latin typeface="Arial"/>
              </a:rPr>
              <a:t>Próximos pasos: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00000" y="3113995"/>
            <a:ext cx="9288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Arial"/>
              </a:rPr>
              <a:t>Corridas Xenium  ·  Pipeline reproducible  ·  Atlas celular comparativo DC/TBD vs controles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16000" y="3707994"/>
            <a:ext cx="11772000" cy="576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0000" y="3751194"/>
            <a:ext cx="11484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141E45"/>
                </a:solidFill>
                <a:latin typeface="Arial"/>
              </a:rPr>
              <a:t>¡Gracias!  ·  Preguntas y discusión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